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  <p:sldId id="280" r:id="rId27"/>
    <p:sldId id="282" r:id="rId28"/>
    <p:sldId id="283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716" autoAdjust="0"/>
    <p:restoredTop sz="94660"/>
  </p:normalViewPr>
  <p:slideViewPr>
    <p:cSldViewPr>
      <p:cViewPr varScale="1">
        <p:scale>
          <a:sx n="104" d="100"/>
          <a:sy n="104" d="100"/>
        </p:scale>
        <p:origin x="-28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8DF9D404-1369-48DC-9329-380F92E7FA55}" type="datetimeFigureOut">
              <a:rPr lang="ru-RU" smtClean="0"/>
              <a:pPr/>
              <a:t>06.04.2016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D66642B5-B4BC-44D9-889F-528FC7BC221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85786" y="428604"/>
            <a:ext cx="7772400" cy="2743218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FF0000"/>
                </a:solidFill>
              </a:rPr>
              <a:t>Психодрама как метод групповой психотерапии</a:t>
            </a:r>
            <a:br>
              <a:rPr lang="ru-RU" sz="6000" dirty="0">
                <a:solidFill>
                  <a:srgbClr val="FF0000"/>
                </a:solidFill>
              </a:rPr>
            </a:br>
            <a:endParaRPr lang="ru-RU" sz="60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500438"/>
            <a:ext cx="6315091" cy="3209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42844" y="0"/>
            <a:ext cx="7786742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0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000" b="1" dirty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0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000" b="1" dirty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000" b="1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ПСИХОДРАМА МОРЕНО. О МЕТОДЕ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Психодрама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наиболее показательный вид практического применения групповой психотерапии.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Автор психодрамы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Якоб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Морено - человек, с чьим именем принято связывать развитие групповой терапии как отдельного психотерапевтического направления.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Психодрама применяется вот уже несколько десятилетий практически во всех развитых странах Европы и Америки.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3571876"/>
            <a:ext cx="5213355" cy="314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0" y="737510"/>
            <a:ext cx="90011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 понятиям психодрамы относятся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714348" y="1428736"/>
            <a:ext cx="7286676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228600" algn="l"/>
              </a:tabLst>
            </a:pPr>
            <a:r>
              <a:rPr kumimoji="0" lang="ru-RU" sz="5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роли и ролевые игры</a:t>
            </a:r>
            <a:endParaRPr kumimoji="0" lang="ru-RU" sz="54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228600" algn="l"/>
              </a:tabLst>
            </a:pPr>
            <a:r>
              <a:rPr kumimoji="0" lang="ru-RU" sz="5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спонтанность</a:t>
            </a:r>
            <a:endParaRPr kumimoji="0" lang="ru-RU" sz="54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28600" algn="l"/>
              </a:tabLst>
            </a:pPr>
            <a:r>
              <a:rPr kumimoji="0" lang="ru-RU" sz="5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теле</a:t>
            </a:r>
            <a:endParaRPr kumimoji="0" lang="ru-RU" sz="54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>
                <a:tab pos="228600" algn="l"/>
              </a:tabLst>
            </a:pPr>
            <a:r>
              <a:rPr kumimoji="0" lang="ru-RU" sz="5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Times New Roman" pitchFamily="18" charset="0"/>
              </a:rPr>
              <a:t>катарсис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>
                <a:tab pos="228600" algn="l"/>
              </a:tabLst>
            </a:pPr>
            <a:r>
              <a:rPr kumimoji="0" lang="ru-RU" sz="5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Times New Roman" pitchFamily="18" charset="0"/>
              </a:rPr>
              <a:t> </a:t>
            </a:r>
            <a:r>
              <a:rPr kumimoji="0" lang="ru-RU" sz="5400" b="0" i="0" u="none" strike="noStrike" cap="none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Times New Roman" pitchFamily="18" charset="0"/>
              </a:rPr>
              <a:t>инсайт</a:t>
            </a:r>
            <a:r>
              <a:rPr kumimoji="0" lang="ru-RU" sz="5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</a:rPr>
              <a:t> </a:t>
            </a: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500034" y="428605"/>
            <a:ext cx="5214974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Роли</a:t>
            </a:r>
            <a:r>
              <a:rPr kumimoji="0" lang="ru-RU" b="1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 ролевые игры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</a:t>
            </a:r>
            <a:b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Очень важно сразу понять принципиальное отличие психодрамы как терапевтического метода от театрального типа разыгрывания ролей. В театре все роли расписаны автором, и актерам остается лишь незначительная возможность, то в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(и в этом ее принципиальное отличие и лечебное воздействие) нет никакого заданного сценария: участники группы сами создают его по ходу развития сюжета и не знают заранее, к чему это все приведет. Здесь психодрама напоминает саму жизнь.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Роли участники тоже выбирают и распределяют сами. Психотерапевт лишь объясняет основные правила психодрамы, а в пределах их поощряет всяческую импровизацию и спонтанность.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6446" y="1428736"/>
            <a:ext cx="2942562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643174" y="143560"/>
            <a:ext cx="46434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200" b="1" i="1" dirty="0">
                <a:solidFill>
                  <a:srgbClr val="FF0000"/>
                </a:solidFill>
              </a:rPr>
              <a:t>Спонтанность</a:t>
            </a:r>
            <a:r>
              <a:rPr lang="ru-RU" sz="3200" dirty="0">
                <a:solidFill>
                  <a:srgbClr val="FF0000"/>
                </a:solidFill>
              </a:rPr>
              <a:t> </a:t>
            </a:r>
            <a:r>
              <a:rPr lang="ru-RU" sz="3200" dirty="0">
                <a:solidFill>
                  <a:prstClr val="black"/>
                </a:solidFill>
              </a:rPr>
              <a:t/>
            </a:r>
            <a:br>
              <a:rPr lang="ru-RU" sz="3200" dirty="0">
                <a:solidFill>
                  <a:prstClr val="black"/>
                </a:solidFill>
              </a:rPr>
            </a:br>
            <a:endParaRPr lang="ru-RU" sz="3200" dirty="0">
              <a:solidFill>
                <a:prstClr val="black"/>
              </a:solidFill>
            </a:endParaRPr>
          </a:p>
        </p:txBody>
      </p:sp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214281" y="0"/>
            <a:ext cx="6000793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Спонтанность подразумевает естественность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(неумышленность) восприятия и реагирования.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Большинство клиентов слишком зажаты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психологическими защитными механизмами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и шаблонами поведения: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они потеряли детскую спонтанность –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естественность проявления чувств и мыслей.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Именно обретение такой спонтанности позволит им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лучше все­го избавиться от своих комплексов и неврозов.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Психотерапевт должен, не навязывая своего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сценария ролевой игры, лишь призывать (подталкивать)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участников не отрываться от данного момента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 действовать «здесь и теперь».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00826" y="2071678"/>
            <a:ext cx="20478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285984" y="285728"/>
            <a:ext cx="33575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3600" b="1" i="1" dirty="0">
                <a:solidFill>
                  <a:srgbClr val="FF0000"/>
                </a:solidFill>
              </a:rPr>
              <a:t>Теле</a:t>
            </a:r>
            <a:r>
              <a:rPr lang="ru-RU" dirty="0">
                <a:solidFill>
                  <a:prstClr val="black"/>
                </a:solidFill>
              </a:rPr>
              <a:t> </a:t>
            </a:r>
            <a:br>
              <a:rPr lang="ru-RU" dirty="0">
                <a:solidFill>
                  <a:prstClr val="black"/>
                </a:solidFill>
              </a:rPr>
            </a:b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8433" name="Rectangle 1"/>
          <p:cNvSpPr>
            <a:spLocks noChangeArrowheads="1"/>
          </p:cNvSpPr>
          <p:nvPr/>
        </p:nvSpPr>
        <p:spPr bwMode="auto">
          <a:xfrm>
            <a:off x="428596" y="857232"/>
            <a:ext cx="4643470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Считается, что это понятие сродни тому, что З.Фрейд называл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трансфер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(перенос). Для Фрейда анализ </a:t>
            </a:r>
            <a:r>
              <a:rPr kumimoji="0" lang="ru-RU" sz="16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трансфера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был одним из технических средств практики психоана­лиза, посредством которого он пытался охарактеризовать лич­ность самого пациента и причины его невроза. </a:t>
            </a:r>
            <a:r>
              <a:rPr kumimoji="0" lang="ru-RU" sz="16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Корнтрперенос</a:t>
            </a:r>
            <a:r>
              <a:rPr kumimoji="0" lang="ru-RU" sz="16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обозначает процесс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эмпатийного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сопереживания психотерапевтом чувств и состояний клиента.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Морено в методе психодрамы объединяет перенос и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контрперенос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одним понятием теле, характеризующим двусторонний процесс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эмпатиийного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восприятия - как между терапевтом и клиентом, так и между всеми участниками психодрамы. Однако в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психодраме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процессы переноса и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контрпереноса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используются не только и не столько для характеристики личности клиента, сколько с терапевтической целью его самораскрытия и преодоления определенных комплексов и неврозов, а также для усиления всего группового процесса.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27989" y="1857364"/>
            <a:ext cx="4016011" cy="2713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6000" y="142853"/>
            <a:ext cx="457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Катарсис</a:t>
            </a:r>
            <a:r>
              <a:rPr lang="ru-RU" sz="3200" dirty="0">
                <a:solidFill>
                  <a:srgbClr val="FF0000"/>
                </a:solidFill>
              </a:rPr>
              <a:t> </a:t>
            </a:r>
            <a:br>
              <a:rPr lang="ru-RU" sz="3200" dirty="0">
                <a:solidFill>
                  <a:srgbClr val="FF0000"/>
                </a:solidFill>
              </a:rPr>
            </a:b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0" y="714356"/>
            <a:ext cx="4643438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Как известно, это слово в античной греческой трагедии обозначало </a:t>
            </a:r>
            <a:r>
              <a:rPr kumimoji="0" lang="ru-RU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очищение, просветление через страдание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 В практику психоанализа катарсис был введен Фрейдом в смысле вскрытия через интенсивные эмоциональные переживания причин неврозов и следующего за этим облегчения-исцеления.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катарсис должны испытать не только клиент и даже не только все участники конкретного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психодраматического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этюда, но и все остальные участники, являющиеся, по замыслу Морено, активно сопереживающими зрителями.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</a:rPr>
              <a:t>Однако, если в греческой трагедии катарсис - явление вторичное по отношению к сюжету, у Фрейда - одно из средств психоанализа, то у Морено сам процесс катарсиса становится главной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500174"/>
            <a:ext cx="4255041" cy="3168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400049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643438" y="5143512"/>
            <a:ext cx="42148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задачей участников психодрамы (первичный эффект) и активных зрителей (вторичный эффект), оказывая на них </a:t>
            </a:r>
            <a:r>
              <a:rPr lang="ru-RU" dirty="0" smtClean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психотерапевтическое </a:t>
            </a:r>
            <a:r>
              <a:rPr lang="ru-RU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воздействие.</a:t>
            </a:r>
            <a:endParaRPr lang="ru-RU" dirty="0">
              <a:solidFill>
                <a:prstClr val="black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>
    <p:strips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6000" y="214291"/>
            <a:ext cx="457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err="1">
                <a:solidFill>
                  <a:srgbClr val="FF0000"/>
                </a:solidFill>
              </a:rPr>
              <a:t>Инсайт</a:t>
            </a:r>
            <a:r>
              <a:rPr lang="ru-RU" sz="2400" dirty="0">
                <a:solidFill>
                  <a:srgbClr val="FF0000"/>
                </a:solidFill>
              </a:rPr>
              <a:t> </a:t>
            </a:r>
            <a:br>
              <a:rPr lang="ru-RU" sz="2400" dirty="0">
                <a:solidFill>
                  <a:srgbClr val="FF0000"/>
                </a:solidFill>
              </a:rPr>
            </a:b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285720" y="642918"/>
            <a:ext cx="5000660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Это слово (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insight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) переводится с английского как «неожиданное озарение». Этот термин обозначает неожиданное понимание клиентом своей проблемы или изменение взгляда на себя, расширяющее возможности решения проблемы.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Обычно (особенно в психоаналитических направлениях)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инсайт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происходит в результате катарсиса. В этом же смысле он понимается и в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атмосфера и динамика которой и должны привести участников (или хотя бы отдельных из них) к катарсису, а через него к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инсайту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 начале занятия психотерапевт объясняет группе смысл и задачи психодрамы и описывает этапы ее практической реализации. Практика психодрамы включает несколько этапов. Сюда входят этап распределения ролей и три стадии развития самой психодрамы.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1000108"/>
            <a:ext cx="292895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mb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6000" y="357167"/>
            <a:ext cx="457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i="1" dirty="0">
                <a:solidFill>
                  <a:srgbClr val="FF0000"/>
                </a:solidFill>
              </a:rPr>
              <a:t>Распределение ролей</a:t>
            </a:r>
            <a:r>
              <a:rPr lang="ru-RU" sz="2800" dirty="0">
                <a:solidFill>
                  <a:srgbClr val="FF0000"/>
                </a:solidFill>
              </a:rPr>
              <a:t> </a:t>
            </a:r>
            <a:br>
              <a:rPr lang="ru-RU" sz="2800" dirty="0">
                <a:solidFill>
                  <a:srgbClr val="FF0000"/>
                </a:solidFill>
              </a:rPr>
            </a:br>
            <a:endParaRPr lang="ru-RU" sz="2800" dirty="0">
              <a:solidFill>
                <a:srgbClr val="FF0000"/>
              </a:solidFill>
            </a:endParaRPr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1142976" y="928671"/>
            <a:ext cx="692948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 настоящее время многие руководители групп вносят свои новшества в типы ролей психодрамы, однако в основном типажи, введенные</a:t>
            </a:r>
            <a:r>
              <a:rPr kumimoji="0" lang="ru-RU" sz="24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Морено, сохраняются. К ним относятся роли: режиссера, протагониста (главного героя) и вспомогательных 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Я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3286124"/>
            <a:ext cx="5667375" cy="3381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3286116" y="500042"/>
            <a:ext cx="535785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Режиссером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обычно выступает сам психотерапевт или руководитель группы. Его главные задачи - сформировать оптимальную для предстоящей работы творческую групповую атмосферу, распределить остальные роли, начать сценическое действие в желательном направлении, а далее - поддерживать настроение участников к проявлению их творческой инициативы и импровизации.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 зависимости от того, проводится ли психодрама в первую очередь для терапевтического воздействия на участников или для психоанализа их самих, причин их неврозов, роль режиссера несколько меняется. В первом случае он главным образом поддерживает терапевтическую творческую атмосферу, практически не отвлекая внимание группы на аналитические разборы. Во втором случае анализу слов, действий и скрытых за ними причин уделяется специальное время.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71546"/>
            <a:ext cx="3141653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8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4500562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Протагонистом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(в соответствии с терминологией античного театра) Морено называет исполнителя главной роли - основного Я. Все остальные участники играют роли вспомогательных 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Я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500042"/>
            <a:ext cx="4071966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3071810"/>
            <a:ext cx="4214842" cy="366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mb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0" y="0"/>
            <a:ext cx="8948155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9D0A0F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Основные стадии (фазы) развития психодрамы.</a:t>
            </a:r>
            <a:endParaRPr kumimoji="0" lang="ru-RU" sz="2800" b="1" i="0" u="sng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</a:rPr>
              <a:t>Первая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928671"/>
            <a:ext cx="4000496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Здесь основная нагрузка выпадает на режиссера. В его задачи входит: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-добиться физического раскрепощения всех участников психодрамы, преодоления (типичной для начинающих актеров) двигательной зажатости;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 постоянное поощрение, стимулирование проявления спонтанности невербального (двигательного, мимического) и вербального (словесного) проявления эмоций;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 целенаправленная концентрация внимания участников группы на решении общей задачи с соблюдением принципа «здесь и теперь». Для раскрепощения «актеров», «режиссеры» психодрамы часто используют различные разминочные упражнения (самые разные движения типа подвижных игр или элементов групповой гимнастики, аэробики, которые с сопровождаются созданием и усилением атмосферы игры, творческой свободы, шуток). Затем могут быть сыграны элементы пантомимы в парах, в тройках и т.п., попытки передать мысли мимикой и жестами и разгадать их.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Вообще, как и во все видах </a:t>
            </a:r>
            <a:r>
              <a:rPr kumimoji="0" lang="ru-RU" sz="11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неавторитарной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групповой терапии, режиссер психодрамы должен вмешиваться только в случае явной необходимости и по возможности незаметно, не поучая, а вдохновляя.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929190" y="500042"/>
            <a:ext cx="17859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u="sng" dirty="0"/>
              <a:t>Вторая</a:t>
            </a:r>
            <a:endParaRPr lang="ru-RU" sz="2400" b="1" dirty="0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4357686" y="1000109"/>
            <a:ext cx="4572032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После обретения участниками определенной раскованности и создания активной творческой атмосферы в результате правильно проведенной разминки начинается основная часть психодрамы.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Сначала режиссер определяет, кто из участников будет играть роль протагониста. Он может сделать этот выбор самостоятельно или умышленно вовлекая в обсуждение кандидатуры группу и тем самым поддерживая творческую активность всех участников.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Режиссер просит протагониста выбрать достаточно важную для него тему, рассказать всем общую идею того спектакля, который он хотел бы разыграть. Он напоминает, что протагонист излагает лишь общее направление, а развитие действия в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психораме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должно быть спонтанным.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Затем выбранный главный герой - протагонист подбирает себе одного или нескольких (в зависимости от замысла режиссера) партнеров, которые будут его вспомогательными </a:t>
            </a:r>
            <a:r>
              <a:rPr kumimoji="0" lang="ru-RU" sz="10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Я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 Объяснив вспомогательным </a:t>
            </a:r>
            <a:r>
              <a:rPr kumimoji="0" lang="ru-RU" sz="10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Я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их задачи, протагонист начинает разыгрывать намеченное действие, стараясь как можно более естественно, спонтанно выражать свои мысли и чувства.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Режиссер, как уже говорилось, вмешивается лишь в случае необходимости, подправляя процесс в нужном направлении к катарсису и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инсайту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Сам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Якоб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Морено характеризовал задачи режиссера психодрамы следующим образом: «Мы не должны разрушать стены, мы просто должны трогать ручки множества дверей для того, чтобы понять, какая из них открыта». Под разрушением стен Морено имеет в виду излишне активное вмешательство режиссера в процесс психодрамы, когда участники заходят в тупик и не знают, как развивать действие дальше.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5357826"/>
            <a:ext cx="892971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Третья стадия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Это завершающая стадия психодрамы, которая заключается в совместном обсуждении и анализе поведения всех участников. В это обсуждение следует вовлекать (ненасильственно) всех участников, так как такие обсуждения помогают не только улучшить работу, лучше узнать себя и других, но и стимулируют активность группового взаимодействия </a:t>
            </a:r>
            <a:r>
              <a:rPr kumimoji="0" lang="ru-RU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и </a:t>
            </a:r>
            <a:r>
              <a:rPr kumimoji="0" lang="ru-RU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эмпатийного</a:t>
            </a:r>
            <a:r>
              <a:rPr kumimoji="0" lang="ru-RU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взаимопонимания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plus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0"/>
            <a:ext cx="864396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9D0A0F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Методики психодрамы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714356"/>
            <a:ext cx="45720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Несмотря на многочисленные вариации, основными практическими методиками психодрамы считаются: 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монолог, метод двойника, обмен ролями, отображение.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99000" y="714356"/>
            <a:ext cx="4445000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ChangeArrowheads="1"/>
          </p:cNvSpPr>
          <p:nvPr/>
        </p:nvSpPr>
        <p:spPr bwMode="auto">
          <a:xfrm>
            <a:off x="4071934" y="0"/>
            <a:ext cx="4714908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Монолог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Это высказывание протагониста или его вспомогательного </a:t>
            </a:r>
            <a:r>
              <a:rPr kumimoji="0" lang="ru-RU" sz="2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Я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 Высказывая в монологе выбранную (важную для него тему), он не только старается ее как можно точнее довести до слушателей, но и по ходу, еще раз осмысливая ее и видя реакции аудитории, начинает лучше разбираться в ней сам.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0962" name="Picture 2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285860"/>
            <a:ext cx="2781300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ChangeArrowheads="1"/>
          </p:cNvSpPr>
          <p:nvPr/>
        </p:nvSpPr>
        <p:spPr bwMode="auto">
          <a:xfrm>
            <a:off x="142844" y="0"/>
            <a:ext cx="8858312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Двойник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/>
            </a:r>
            <a:b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Эта методика заключается в том, что один из выбранных протагонистом, терапевтом или группой участник становится дублером протагониста. Он внимательно следит за монологом протагониста и готовится продолжить за него поиск решения проблемы, как только тот начнет застревать в ней. В некоторых вариан­тах этого метода двойник старается понять и высказать за протагониста то, что тем недосказано.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Следует помнить что двойник всегда выступает не от своего лица, а только за протагониста, как его внутренний голос, одна из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субличностей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и т.п. Желательно поощрять различные типы двойников: серьезные, ироничные, бесцветные (то есть полностью подражающие протагонисту), страстные (усиливающие чувства протагониста), скептики и т.п. Это позволяет как протагонисту, так и самому двойнику и всем участникам с различных сторон увидеть не только протагониста, но и свои собственные мысли и чувства.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3429000"/>
            <a:ext cx="4736706" cy="3251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14612" y="357166"/>
            <a:ext cx="35719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i="1" dirty="0">
                <a:solidFill>
                  <a:srgbClr val="0070C0"/>
                </a:solidFill>
              </a:rPr>
              <a:t>Обмен ролями</a:t>
            </a:r>
            <a:r>
              <a:rPr lang="ru-RU" sz="3200" dirty="0">
                <a:solidFill>
                  <a:srgbClr val="0070C0"/>
                </a:solidFill>
              </a:rPr>
              <a:t> </a:t>
            </a:r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500034" y="1071546"/>
            <a:ext cx="807249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Периодически в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желательно проводить обмен ролями. Протагонист становится двойником или одним из вспомогательных </a:t>
            </a: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Я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и наоборот. Это позволяет научиться лучше понимать других, а через это (по механизму обратной связи) и самого себя.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3000372"/>
            <a:ext cx="5679464" cy="354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 dir="l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6000" y="428605"/>
            <a:ext cx="45720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i="1" dirty="0">
                <a:solidFill>
                  <a:srgbClr val="0070C0"/>
                </a:solidFill>
              </a:rPr>
              <a:t>Отображение</a:t>
            </a:r>
            <a:r>
              <a:rPr lang="ru-RU" sz="2800" dirty="0">
                <a:solidFill>
                  <a:srgbClr val="0070C0"/>
                </a:solidFill>
              </a:rPr>
              <a:t> 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4500562" y="928670"/>
            <a:ext cx="4214842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Здесь также используется механизм обратной связи.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Протагнисту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предлагают понаблюдать за тем, как его изображают двойник и другие участники. Это помогает увидеть себя глазами других и уточнить мнение о себе и, возможно, внести коррекцию в свое поведение.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Элементы психодрамы так или иначе применяются во всех видах групповой психотерапии. Это группы встреч, группы тренинга умений,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гештальттерапии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трансакционного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анализа и т.п., даже некоторые варианты психоанализа.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Психодрама применяется при лечении алкоголизма, наркомании, при коррекции различных видов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девиантного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(отклоняющегося) поведения, пограничных нервно-психических расстройствах (неврозах, психопатиях).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357298"/>
            <a:ext cx="3927471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ChangeArrowheads="1"/>
          </p:cNvSpPr>
          <p:nvPr/>
        </p:nvSpPr>
        <p:spPr bwMode="auto">
          <a:xfrm>
            <a:off x="357158" y="0"/>
            <a:ext cx="8643998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4000" b="1" u="sng" dirty="0">
                <a:solidFill>
                  <a:srgbClr val="7030A0"/>
                </a:solidFill>
              </a:rPr>
              <a:t>Девять специфических техник психодрамы</a:t>
            </a:r>
            <a:r>
              <a:rPr lang="ru-RU" sz="4000" b="1" u="sng" dirty="0" smtClean="0">
                <a:solidFill>
                  <a:srgbClr val="7030A0"/>
                </a:solidFill>
              </a:rPr>
              <a:t>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представление самого себя,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 исполнение роли,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 диалог,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 монолог,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дублирование и множественное       дублирование,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обмен ролями,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реплики в сторону,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 пустой стул,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/>
                <a:ea typeface="Times New Roman" pitchFamily="18" charset="0"/>
              </a:rPr>
              <a:t> зеркало.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blinds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357158" y="357166"/>
            <a:ext cx="4929222" cy="563231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/>
                <a:ea typeface="Times New Roman" pitchFamily="18" charset="0"/>
              </a:rPr>
              <a:t>Представление самого себя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/>
                <a:ea typeface="Times New Roman" pitchFamily="18" charset="0"/>
              </a:rPr>
              <a:t> состоит из коротких ролевых действий, в которых протагонист изображает самого себя или кого-то очень важного для себя. Существуют два основных вида этого метода: описание себя и людей в форме последовательных эпизодов, парад личностей; психодрама в виде серии завершенных ситуаций. Есть также и метод интервью, когда есть человек, от имени которого отвечают на вопросы</a:t>
            </a:r>
            <a:r>
              <a:rPr kumimoji="0" lang="ru-RU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/>
                <a:ea typeface="Times New Roman" pitchFamily="18" charset="0"/>
              </a:rPr>
              <a:t>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1500174"/>
            <a:ext cx="3357586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ver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ChangeArrowheads="1"/>
          </p:cNvSpPr>
          <p:nvPr/>
        </p:nvSpPr>
        <p:spPr bwMode="auto">
          <a:xfrm>
            <a:off x="0" y="1"/>
            <a:ext cx="4429124" cy="37856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Исполнение роли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 -- это акт принятия роли кого-то другого. Это может быть часть тела, животное, неодушевленный предмет, человек. К протагонисту она обычно не применяется, но существуют три исключения: когда используется одна техника как монодрама; когда используется техника обмена ролями; во время тренинга, когда человека просят принять новую чужую роль.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4429092" y="3571876"/>
            <a:ext cx="4714908" cy="31700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Диалог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 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-- это изображение в ролевых играх взаимоотношений между реальными людьми. Вспомогательные игроки -- люди, с которыми человек взаимодействует в реальной жизни. Здесь каждый -- и протагонист, и вспомогательные игроки -- играет самих себя. Часто используется при исследовании конфликтных ситуаций.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000504"/>
            <a:ext cx="3357586" cy="285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0"/>
            <a:ext cx="3286148" cy="339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ircl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285720" y="357166"/>
            <a:ext cx="5072098" cy="63709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Монолог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 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-- изложение человеком своих чувств, мыслей, как будто он вслух советуется с самим собой, комментирование своих действий в ролевых играх в начале, середине и в конце сцены. Есть две формы монолога: акт полного раскрытия самого себя и сопротивление полному развитию роли. Эта техника разговора с сами собой сочетается техникой дублирования, так как человеку могут понадобиться внешние стимулы для разговора (второй участник исполняет роль дублера).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884" y="1285860"/>
            <a:ext cx="2720297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ChangeArrowheads="1"/>
          </p:cNvSpPr>
          <p:nvPr/>
        </p:nvSpPr>
        <p:spPr bwMode="auto">
          <a:xfrm>
            <a:off x="142844" y="214290"/>
            <a:ext cx="857256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/>
                <a:ea typeface="Times New Roman" pitchFamily="18" charset="0"/>
              </a:rPr>
              <a:t>Дублирование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/>
                <a:ea typeface="Times New Roman" pitchFamily="18" charset="0"/>
              </a:rPr>
              <a:t>: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/>
                <a:ea typeface="Times New Roman" pitchFamily="18" charset="0"/>
              </a:rPr>
              <a:t> один из участников играет роль протагониста как его внутренний голос, «психологический двойник». Дублер стоит рядом с протагонистом, сбоку от него (с противоположной от зрителей стороны). Нужно добиться ощущения психологического единства с протагонистом. Дублер имитирует его физически с целью как можно глубже погрузиться в роль протагониста; направить свое внимание на физические ключи с тем, чтобы определить их. Задачи дублера: имитация физических особенностей, жестов, манер протагониста; повторение ключевых слов, достижение ментального, эмоционального сходства с протагонистом; чтение между строк и обсуждение скрытых мыслей и чувств; фокусирование на страхах, запретах, дилеммах, живущих в протагонисте; высказывание гипотез касательно проблем протагониста; побуждение протагониста к открытому выражению своих проблем и к прямому соприкосновению с ними.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3500438"/>
            <a:ext cx="4262437" cy="283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heel spokes="2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ChangeArrowheads="1"/>
          </p:cNvSpPr>
          <p:nvPr/>
        </p:nvSpPr>
        <p:spPr bwMode="auto">
          <a:xfrm>
            <a:off x="214282" y="142852"/>
            <a:ext cx="792965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Реплики в сторону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. Их цель -- извлечение и раскрытие внутренних мыслей, чувств человека. Они вводятся в действие, если протагонист излагает события недостоверно, умышленно скрывает правду. Всегда применяются в сочетании с «исполнением роли» и «диалогом». Обычно говорит в сторону протагонист, но это может делать и другой участник, если в упражнении участвует жена и другие люди, значимые для протагониста. Тогда все участники могут применять реплики в сторону.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142844" y="2714620"/>
            <a:ext cx="842968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Обмен ролями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.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Два участника меняются ролями -- каждый перенимает позу, манеры, психологическое состояние другого.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285720" y="4643446"/>
            <a:ext cx="7643866" cy="138499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Техника пустого стула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 -- протагонист взаимодействует с воображаемым кем-то или чем-то, представленным одним или несколькими пустыми стульями. Протагонист разговаривает с кем-то в форме монолога или обмена ролями. Потом стул занимает второстепенное лицо, с которым протагонист мог бы общаться, как будто воображаемый кто-то был здесь.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ChangeArrowheads="1"/>
          </p:cNvSpPr>
          <p:nvPr/>
        </p:nvSpPr>
        <p:spPr bwMode="auto">
          <a:xfrm>
            <a:off x="285720" y="428604"/>
            <a:ext cx="5715040" cy="547842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Зеркало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Roboto-Regular" charset="0"/>
                <a:ea typeface="Times New Roman" pitchFamily="18" charset="0"/>
              </a:rPr>
              <a:t> 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-- разновидность имитации поведения, разработанная для того, чтобы обеспечить протагониста живым зеркалом. Она осуществляется дублером, исполняющим роль протагониста и течение короткого времени, а протагонист наблюдает, удалившись из пространства действия. Иногда дублер преувеличивает некоторые черты поведения протагониста. Эта техника направлена на преодоление сопротивления со стороны протагониста. Протагонист сопротивляется изменениям в двух формах -- скрыто и открыто. Сопротивление порождают содержание обсуждаемой темы, терапевт, окружение, терапевтический процесс. Использование общих техник в конкретной форме «шаг в будущее», «возврат времени», «тест на спонтанность» представляют гобой разные измерения универсалии времени; «техника сновидения», «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психодраматический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 шок», «ролевая игра под гипнозом» -- различные аспекты универсалии действительности. Проблема заключается в том, как преобразовать три временных измерения в действующие величины. Техника «шаг в будущее» позволяет заглянуть в будущее, «возврат во времени» -- в прошлое, «тест на спонтанность» -- сфокусироваться на настоящем. Существует и «тест на нахождение выхода» -- протагонист проигрывает ряд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фрустрирующих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 ситуаций, с которыми он может толкнуться во внешнем мире. Цель -- устранение или ослабление предвосхищаемых тревог, особенно тех, которые воздействуют на поведение в настоящем.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6" y="214290"/>
            <a:ext cx="2857648" cy="5895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214282" y="285728"/>
            <a:ext cx="8429684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Roboto-Regular" charset="0"/>
                <a:ea typeface="Times New Roman" pitchFamily="18" charset="0"/>
              </a:rPr>
              <a:t>Упражнения: 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Roboto-Regular" charset="0"/>
              <a:ea typeface="Times New Roman" pitchFamily="18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b="1" dirty="0">
              <a:solidFill>
                <a:srgbClr val="7030A0"/>
              </a:solidFill>
              <a:latin typeface="Roboto-Regular" charset="0"/>
              <a:ea typeface="Times New Roman" pitchFamily="18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Roboto-Regular" charset="0"/>
                <a:ea typeface="Times New Roman" pitchFamily="18" charset="0"/>
              </a:rPr>
              <a:t>«Фотография»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Участникам предлагается вспомнить какую-либо семейную фотографию и затем воспроизвести ее, построив изображение из вспомогательных игроков. Эта техника применяется на ранних стадиях развития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психодраматической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 группы.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214282" y="3214686"/>
            <a:ext cx="8572560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Roboto-Regular" charset="0"/>
                <a:ea typeface="Times New Roman" pitchFamily="18" charset="0"/>
              </a:rPr>
              <a:t> «Монолог с двойником»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 Представьте, что вы один в комнате. Через несколько минут другой член группы по своей инициативе подходит и, не прерывая действия, встает позади произносящего монолог, принимая его позу и повторяя его движения. Постарайтесь представить чувства и мысли произносящего монолог. Не мешайте течению его речи. Вы можете начать повторять каждую фразу не посредственно после того, как ее услышите, а затем постепенно интуитивно постигайте невысказанные мысли и чувства. Обязательно копируйте невербальное поведение произносящего монолог». Через несколько минут пусть вас заменит другой участник. Каждый член группы должен иметь возможность хотя бы один раз поработать двойником.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ChangeArrowheads="1"/>
          </p:cNvSpPr>
          <p:nvPr/>
        </p:nvSpPr>
        <p:spPr bwMode="auto">
          <a:xfrm>
            <a:off x="214282" y="142852"/>
            <a:ext cx="8286808" cy="3200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Roboto-Regular" charset="0"/>
                <a:ea typeface="Times New Roman" pitchFamily="18" charset="0"/>
              </a:rPr>
              <a:t> «За спиной»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Это обсуждение действий, мыслей и чувств протагониста как бы в его отсутствие, хотя на самом деле он находится среди зрителей. Протагонист сидит на стуле, повернутом спинкой ко всем остальным участникам, и не может принимать участия в обсуждении, а члены группы высказывают свои чувства, свое отношение к нему. Эта техника похожа на технику зеркального отражения, но отличается от нее более явным подчеркиванием того, как данный участник воспринимается другими людьми. Опыт применения этой техники в группах психологов и студентов-психологов показывает, что данный метод особенно высоко оценивается теми участниками, которые по разным причинам не чувствовали себя полностью включенными в группу -- из-за пропусков групповых занятий, из-за поверхностного знакомства с остальными членами группы, хорошо знакомыми между собой, или вследствие чрезмерной «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экспонированности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» после участия в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психодраматическом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 эпизоде. Метод «За спиной» парадоксальным образом помогает участнику группы обратиться лицом к группе, а группе -- лицом к данному участнику.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214282" y="3857628"/>
            <a:ext cx="81439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Roboto-Regular" charset="0"/>
                <a:ea typeface="Times New Roman" pitchFamily="18" charset="0"/>
              </a:rPr>
              <a:t> «Все спиной»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Arial" pitchFamily="34" charset="0"/>
              <a:ea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Roboto-Regular" charset="0"/>
                <a:ea typeface="Times New Roman" pitchFamily="18" charset="0"/>
              </a:rPr>
              <a:t>Протагонист просит членов группы уйти; однако вместо того чтобы уйти, они все поворачиваются к нему спиной. Протагонист действует так, как будто они действительно ушли, и говорит в адрес каждого члена группы, что он чувствует по отношению к нему.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357166"/>
            <a:ext cx="8001056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i="1" u="sng" dirty="0" smtClean="0">
                <a:solidFill>
                  <a:srgbClr val="FF0000"/>
                </a:solidFill>
              </a:rPr>
              <a:t>Заключение .</a:t>
            </a:r>
          </a:p>
          <a:p>
            <a:r>
              <a:rPr lang="ru-RU" sz="2000" dirty="0" smtClean="0">
                <a:solidFill>
                  <a:srgbClr val="FF0000"/>
                </a:solidFill>
              </a:rPr>
              <a:t>Психодрама,</a:t>
            </a:r>
            <a:r>
              <a:rPr lang="ru-RU" sz="2000" dirty="0" smtClean="0"/>
              <a:t> являясь прямым спонтанным действием, обнажающим чувства, переживания и эмоции людей, вовлеченных в терапевтическую группу, считает одним из наиболее эффективных и успешных методов психологического консультирования и терапии. Главный парадокс этого метода психотерапии заключается в том, что «все эти сложности, тонкости, особый язык, метод, </a:t>
            </a:r>
            <a:r>
              <a:rPr lang="ru-RU" sz="2000" dirty="0" err="1" smtClean="0"/>
              <a:t>отношнеия</a:t>
            </a:r>
            <a:r>
              <a:rPr lang="ru-RU" sz="2000" dirty="0" smtClean="0"/>
              <a:t> между терапевтом и клиентом — все это существует и строится ради того, чтобы, в конце концов, стать ненужным. Психотерапия должна сама себя изжить. Возможно, человек вновь решит когда-нибудь к ней прибегнуть, но это уже другая история», — полагает кандидат психологических наук, ведущий специалист </a:t>
            </a:r>
            <a:r>
              <a:rPr lang="ru-RU" sz="2000" dirty="0" err="1" smtClean="0"/>
              <a:t>психодраматического</a:t>
            </a:r>
            <a:r>
              <a:rPr lang="ru-RU" sz="2000" dirty="0" smtClean="0"/>
              <a:t> подхода в России Екатерина Михайлова.</a:t>
            </a:r>
          </a:p>
          <a:p>
            <a:r>
              <a:rPr lang="ru-RU" sz="2000" dirty="0" smtClean="0"/>
              <a:t>Таким образом, психодрама, воссоздавая те или иные бытовые ситуации, апеллирует к </a:t>
            </a:r>
            <a:r>
              <a:rPr lang="ru-RU" sz="2000" dirty="0" err="1" smtClean="0"/>
              <a:t>психоэмоциональной</a:t>
            </a:r>
            <a:r>
              <a:rPr lang="ru-RU" sz="2000" dirty="0" smtClean="0"/>
              <a:t> составляющей личности индивидуума, помогая ему пройти путь самопознания в условиях взаимопонимания со стороны партнеров по группе поддержки и четкому следованию рекомендациям специалиста-психолога.</a:t>
            </a:r>
            <a:endParaRPr lang="ru-RU" sz="2000" dirty="0"/>
          </a:p>
        </p:txBody>
      </p:sp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214414" y="142852"/>
            <a:ext cx="675451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Спасибо за внимание!!!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928802"/>
            <a:ext cx="7358146" cy="4714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ut thruBlk="1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230</TotalTime>
  <Words>1560</Words>
  <Application>Microsoft Office PowerPoint</Application>
  <PresentationFormat>Экран (4:3)</PresentationFormat>
  <Paragraphs>114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Трек</vt:lpstr>
      <vt:lpstr>Психодрама как метод групповой психотерапии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Психодрама как метод групповой психотерапии </dc:title>
  <dc:creator>Admin</dc:creator>
  <cp:lastModifiedBy>Admin</cp:lastModifiedBy>
  <cp:revision>25</cp:revision>
  <dcterms:created xsi:type="dcterms:W3CDTF">2016-03-31T11:03:21Z</dcterms:created>
  <dcterms:modified xsi:type="dcterms:W3CDTF">2016-04-06T05:03:39Z</dcterms:modified>
</cp:coreProperties>
</file>